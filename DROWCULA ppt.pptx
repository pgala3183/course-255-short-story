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b8fde69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b8fde69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b8fde694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b8fde694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b8fde694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b8fde694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b8fde694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b8fde694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b8fde694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b8fde694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b8fde694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b8fde694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b8fde694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b8fde694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b8fde694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b8fde694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b8fde694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b8fde694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b8fde694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b8fde694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b8fde694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b8fde694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b8fde694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b8fde694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b8fde694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b8fde694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b8fde694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b8fde694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b8fde694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b8fde694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8fde694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b8fde694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b8fde694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b8fde694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b8fde694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b8fde694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b8fde694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b8fde694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b8fde6945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b8fde694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8fde694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b8fde694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b8fde694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b8fde694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8fde6945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b8fde6945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b8fde694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b8fde694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b8fde694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b8fde694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b8fde694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b8fde694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46625" y="1648850"/>
            <a:ext cx="7738200" cy="1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66CC"/>
                </a:solidFill>
              </a:rPr>
              <a:t>DROWCULA</a:t>
            </a:r>
            <a:endParaRPr b="1" sz="2300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Dimensionally Reduced Open-World Clustering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Erencem Ozbey &amp; Dimitrios I. Diochnos</a:t>
            </a:r>
            <a:endParaRPr sz="1100">
              <a:solidFill>
                <a:srgbClr val="33333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100">
                <a:solidFill>
                  <a:srgbClr val="333333"/>
                </a:solidFill>
              </a:rPr>
              <a:t>NeurIPS 2025 | Bogazici University &amp; University of Oklahoma</a:t>
            </a:r>
            <a:endParaRPr sz="11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205750" y="1325875"/>
            <a:ext cx="88563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The Problem: Open-World Clustering</a:t>
            </a:r>
            <a:endParaRPr b="1" sz="1700">
              <a:solidFill>
                <a:srgbClr val="0066CC"/>
              </a:solidFill>
            </a:endParaRPr>
          </a:p>
          <a:p>
            <a:pPr indent="-314325" lvl="0" marL="457200" rtl="0" algn="l">
              <a:lnSpc>
                <a:spcPct val="1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Novel Class Discovery (NCD):</a:t>
            </a:r>
            <a:r>
              <a:rPr lang="en" sz="1350">
                <a:solidFill>
                  <a:schemeClr val="dk1"/>
                </a:solidFill>
              </a:rPr>
              <a:t> Real-world data contains unknown classes not seen during training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Semi-supervised limitation:</a:t>
            </a:r>
            <a:r>
              <a:rPr lang="en" sz="1350">
                <a:solidFill>
                  <a:schemeClr val="dk1"/>
                </a:solidFill>
              </a:rPr>
              <a:t> NCD methods require labeled data (unfair advantage)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Curse of dimensionality:</a:t>
            </a:r>
            <a:r>
              <a:rPr lang="en" sz="1350">
                <a:solidFill>
                  <a:schemeClr val="dk1"/>
                </a:solidFill>
              </a:rPr>
              <a:t> High-dimensional embeddings hurt clustering quality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Unknown cluster count:</a:t>
            </a:r>
            <a:r>
              <a:rPr lang="en" sz="1350">
                <a:solidFill>
                  <a:schemeClr val="dk1"/>
                </a:solidFill>
              </a:rPr>
              <a:t> We can't assume knowing the number of clusters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Goal:</a:t>
            </a:r>
            <a:r>
              <a:rPr lang="en" sz="1350">
                <a:solidFill>
                  <a:schemeClr val="dk1"/>
                </a:solidFill>
              </a:rPr>
              <a:t> Discover novel categories completely unsupervised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102875" y="994425"/>
            <a:ext cx="9144000" cy="25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Real-World Applications</a:t>
            </a:r>
            <a:endParaRPr b="1" sz="1700">
              <a:solidFill>
                <a:srgbClr val="0066CC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66CC"/>
                </a:solidFill>
                <a:highlight>
                  <a:srgbClr val="F0F4F8"/>
                </a:highlight>
              </a:rPr>
              <a:t>Disease Detection</a:t>
            </a:r>
            <a:endParaRPr b="1" sz="1550">
              <a:solidFill>
                <a:srgbClr val="0066CC"/>
              </a:solidFill>
              <a:highlight>
                <a:srgbClr val="F0F4F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0F4F8"/>
                </a:highlight>
              </a:rPr>
              <a:t>Identify novel virus strains without pre-labeled examples</a:t>
            </a:r>
            <a:endParaRPr sz="1350">
              <a:solidFill>
                <a:schemeClr val="dk1"/>
              </a:solidFill>
              <a:highlight>
                <a:srgbClr val="F0F4F8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66CC"/>
                </a:solidFill>
                <a:highlight>
                  <a:srgbClr val="F0F4F8"/>
                </a:highlight>
              </a:rPr>
              <a:t>Image Categorization</a:t>
            </a:r>
            <a:endParaRPr b="1" sz="1550">
              <a:solidFill>
                <a:srgbClr val="0066CC"/>
              </a:solidFill>
              <a:highlight>
                <a:srgbClr val="F0F4F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0F4F8"/>
                </a:highlight>
              </a:rPr>
              <a:t>Auto-organize photos into unknown groups</a:t>
            </a:r>
            <a:endParaRPr sz="1350">
              <a:solidFill>
                <a:schemeClr val="dk1"/>
              </a:solidFill>
              <a:highlight>
                <a:srgbClr val="F0F4F8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66CC"/>
                </a:solidFill>
                <a:highlight>
                  <a:srgbClr val="F0F4F8"/>
                </a:highlight>
              </a:rPr>
              <a:t>Foundation Models</a:t>
            </a:r>
            <a:endParaRPr b="1" sz="1550">
              <a:solidFill>
                <a:srgbClr val="0066CC"/>
              </a:solidFill>
              <a:highlight>
                <a:srgbClr val="F0F4F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0F4F8"/>
                </a:highlight>
              </a:rPr>
              <a:t>Leverage vast unlabeled data efficiently</a:t>
            </a:r>
            <a:endParaRPr sz="1350">
              <a:solidFill>
                <a:schemeClr val="dk1"/>
              </a:solidFill>
              <a:highlight>
                <a:srgbClr val="F0F4F8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575" y="2152675"/>
            <a:ext cx="7895293" cy="238125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70" name="Google Shape;70;p16"/>
          <p:cNvSpPr txBox="1"/>
          <p:nvPr/>
        </p:nvSpPr>
        <p:spPr>
          <a:xfrm>
            <a:off x="293375" y="0"/>
            <a:ext cx="8174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Background: Clustering Landscape</a:t>
            </a:r>
            <a:endParaRPr b="1" sz="1700">
              <a:solidFill>
                <a:srgbClr val="0066CC"/>
              </a:solidFill>
            </a:endParaRPr>
          </a:p>
          <a:p>
            <a:pPr indent="-314325" lvl="0" marL="457200" rtl="0" algn="l">
              <a:lnSpc>
                <a:spcPct val="190000"/>
              </a:lnSpc>
              <a:spcBef>
                <a:spcPts val="400"/>
              </a:spcBef>
              <a:spcAft>
                <a:spcPts val="0"/>
              </a:spcAft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Traditional:</a:t>
            </a:r>
            <a:r>
              <a:rPr lang="en" sz="1350"/>
              <a:t> K-means, K-medoids, DBSCAN</a:t>
            </a:r>
            <a:endParaRPr sz="1350"/>
          </a:p>
          <a:p>
            <a:pPr indent="-314325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Deep clustering:</a:t>
            </a:r>
            <a:r>
              <a:rPr lang="en" sz="1350"/>
              <a:t> TURTLE, PRO-DSC, TEMI</a:t>
            </a:r>
            <a:endParaRPr sz="1350"/>
          </a:p>
          <a:p>
            <a:pPr indent="-314325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ViT-based:</a:t>
            </a:r>
            <a:r>
              <a:rPr lang="en" sz="1350"/>
              <a:t> DINOv2 embeddings</a:t>
            </a:r>
            <a:endParaRPr sz="1350"/>
          </a:p>
          <a:p>
            <a:pPr indent="-314325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Manifold learning:</a:t>
            </a:r>
            <a:r>
              <a:rPr lang="en" sz="1350"/>
              <a:t> UMAP, t-SNE, Isomap</a:t>
            </a:r>
            <a:endParaRPr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0" y="0"/>
            <a:ext cx="49887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The Curse of Dimensionality</a:t>
            </a:r>
            <a:endParaRPr b="1" sz="1700">
              <a:solidFill>
                <a:srgbClr val="0066CC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 high dimensions, all points appear equally distant</a:t>
            </a:r>
            <a:endParaRPr sz="1100"/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Euclidean distance becomes meaningless</a:t>
            </a:r>
            <a:endParaRPr sz="1100"/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Solution: Preserve local structure with manifold learning</a:t>
            </a:r>
            <a:endParaRPr sz="1100"/>
          </a:p>
        </p:txBody>
      </p:sp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8700" y="209550"/>
            <a:ext cx="3850500" cy="4058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/>
        </p:nvSpPr>
        <p:spPr>
          <a:xfrm>
            <a:off x="-102850" y="1325875"/>
            <a:ext cx="8444700" cy="22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DROWCULA Pipeline</a:t>
            </a:r>
            <a:endParaRPr b="1" sz="1700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66CC"/>
                </a:solidFill>
              </a:rPr>
              <a:t>Step 1: Vision Transformer Embeddings (DINOv2-giant) → 1536D</a:t>
            </a:r>
            <a:endParaRPr b="1" sz="1350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66CC"/>
                </a:solidFill>
              </a:rPr>
              <a:t>Step 2: L2 Normalization</a:t>
            </a:r>
            <a:endParaRPr b="1" sz="1350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66CC"/>
                </a:solidFill>
              </a:rPr>
              <a:t>Step 3: Manifold Dimension Reduction (UMAP/t-SNE) → 2-3D</a:t>
            </a:r>
            <a:endParaRPr b="1" sz="1350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66CC"/>
                </a:solidFill>
              </a:rPr>
              <a:t>Step 4: K-means Clustering</a:t>
            </a:r>
            <a:endParaRPr b="1" sz="1350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b="1" lang="en" sz="1350">
                <a:solidFill>
                  <a:srgbClr val="0066CC"/>
                </a:solidFill>
              </a:rPr>
              <a:t>Step 5: Bayesian Optimization for Cluster Count</a:t>
            </a:r>
            <a:endParaRPr b="1" sz="1350">
              <a:solidFill>
                <a:srgbClr val="0066C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0" y="0"/>
            <a:ext cx="4707000" cy="3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Why Vision Transformers (ViT)?</a:t>
            </a:r>
            <a:endParaRPr b="1" sz="1700">
              <a:solidFill>
                <a:srgbClr val="0066CC"/>
              </a:solidFill>
            </a:endParaRPr>
          </a:p>
          <a:p>
            <a:pPr indent="-314325" lvl="0" marL="457200" rtl="0" algn="l">
              <a:lnSpc>
                <a:spcPct val="1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Global attention:</a:t>
            </a:r>
            <a:r>
              <a:rPr lang="en" sz="1350">
                <a:solidFill>
                  <a:schemeClr val="dk1"/>
                </a:solidFill>
              </a:rPr>
              <a:t> Capture long-range dependencies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Dataset-agnostic:</a:t>
            </a:r>
            <a:r>
              <a:rPr lang="en" sz="1350">
                <a:solidFill>
                  <a:schemeClr val="dk1"/>
                </a:solidFill>
              </a:rPr>
              <a:t> Not tied to specific training data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Rich embeddings:</a:t>
            </a:r>
            <a:r>
              <a:rPr lang="en" sz="1350">
                <a:solidFill>
                  <a:schemeClr val="dk1"/>
                </a:solidFill>
              </a:rPr>
              <a:t> DINOv2-giant produces 1536D vectors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Self-supervised:</a:t>
            </a:r>
            <a:r>
              <a:rPr lang="en" sz="1350">
                <a:solidFill>
                  <a:schemeClr val="dk1"/>
                </a:solidFill>
              </a:rPr>
              <a:t> Preserves natural class structure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rgbClr val="0066CC"/>
                </a:solidFill>
              </a:rPr>
              <a:t>State-of-the-art:</a:t>
            </a:r>
            <a:r>
              <a:rPr lang="en" sz="1350">
                <a:solidFill>
                  <a:schemeClr val="dk1"/>
                </a:solidFill>
              </a:rPr>
              <a:t> Superior to CNN features for clustering</a:t>
            </a:r>
            <a:endParaRPr sz="1350">
              <a:solidFill>
                <a:schemeClr val="dk1"/>
              </a:solidFill>
            </a:endParaRPr>
          </a:p>
        </p:txBody>
      </p:sp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775" y="2667900"/>
            <a:ext cx="5446226" cy="247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19175"/>
            <a:ext cx="7715250" cy="4424325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93" name="Google Shape;93;p20"/>
          <p:cNvSpPr txBox="1"/>
          <p:nvPr/>
        </p:nvSpPr>
        <p:spPr>
          <a:xfrm>
            <a:off x="304800" y="304800"/>
            <a:ext cx="65169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Dimension Reduction Methods: CIFAR-10</a:t>
            </a:r>
            <a:endParaRPr b="1" sz="1700">
              <a:solidFill>
                <a:srgbClr val="0066C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075" y="1535450"/>
            <a:ext cx="6803108" cy="32385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99" name="Google Shape;99;p21"/>
          <p:cNvSpPr txBox="1"/>
          <p:nvPr/>
        </p:nvSpPr>
        <p:spPr>
          <a:xfrm>
            <a:off x="304800" y="304800"/>
            <a:ext cx="73512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Benchmark Datasets</a:t>
            </a:r>
            <a:endParaRPr b="1" sz="1700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rgbClr val="0066CC"/>
                </a:solidFill>
              </a:rPr>
              <a:t>CIFAR-10, CIFAR-100, ImageNet-100, Tiny ImageNet</a:t>
            </a:r>
            <a:endParaRPr b="1" sz="1100">
              <a:solidFill>
                <a:srgbClr val="0066C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75" y="856375"/>
            <a:ext cx="7715250" cy="4287125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05" name="Google Shape;105;p22"/>
          <p:cNvSpPr txBox="1"/>
          <p:nvPr/>
        </p:nvSpPr>
        <p:spPr>
          <a:xfrm>
            <a:off x="600075" y="156200"/>
            <a:ext cx="6791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State-of-the-Art Results Across Datasets</a:t>
            </a:r>
            <a:endParaRPr b="1" sz="1700">
              <a:solidFill>
                <a:srgbClr val="0066C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25" y="1226825"/>
            <a:ext cx="7229175" cy="3333749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11" name="Google Shape;111;p23"/>
          <p:cNvSpPr txBox="1"/>
          <p:nvPr/>
        </p:nvSpPr>
        <p:spPr>
          <a:xfrm>
            <a:off x="304800" y="304800"/>
            <a:ext cx="7854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Vision Transformer Architecture</a:t>
            </a:r>
            <a:endParaRPr b="1" sz="1700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rgbClr val="0066CC"/>
                </a:solidFill>
              </a:rPr>
              <a:t>Patch Embedding → Transformer Blocks → Feature Vector</a:t>
            </a:r>
            <a:endParaRPr b="1" sz="1100">
              <a:solidFill>
                <a:srgbClr val="0066C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/>
        </p:nvSpPr>
        <p:spPr>
          <a:xfrm>
            <a:off x="2777475" y="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CIFAR Benchmark Results</a:t>
            </a:r>
            <a:endParaRPr b="1" sz="1700">
              <a:solidFill>
                <a:srgbClr val="0066CC"/>
              </a:solidFill>
            </a:endParaRPr>
          </a:p>
        </p:txBody>
      </p:sp>
      <p:pic>
        <p:nvPicPr>
          <p:cNvPr id="117" name="Google Shape;1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8800"/>
            <a:ext cx="8839200" cy="2435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/>
        </p:nvSpPr>
        <p:spPr>
          <a:xfrm>
            <a:off x="0" y="0"/>
            <a:ext cx="8444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1371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Novel Class Discovery: Fully Unsupervised!</a:t>
            </a:r>
            <a:endParaRPr b="1" sz="1700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rgbClr val="0066CC"/>
                </a:solidFill>
              </a:rPr>
              <a:t>DROWCULA beats all semi-supervised NCD methods:</a:t>
            </a:r>
            <a:endParaRPr b="1" sz="1100">
              <a:solidFill>
                <a:srgbClr val="0066CC"/>
              </a:solidFill>
            </a:endParaRPr>
          </a:p>
        </p:txBody>
      </p:sp>
      <p:pic>
        <p:nvPicPr>
          <p:cNvPr id="123" name="Google Shape;1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3400"/>
            <a:ext cx="8839198" cy="2333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/>
        </p:nvSpPr>
        <p:spPr>
          <a:xfrm>
            <a:off x="0" y="0"/>
            <a:ext cx="91440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Ablation Study: Distance Metrics Matter</a:t>
            </a:r>
            <a:endParaRPr b="1" sz="1700">
              <a:solidFill>
                <a:srgbClr val="0066C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rgbClr val="0066CC"/>
                </a:solidFill>
              </a:rPr>
              <a:t>CIFAR-10 Results with FasterMSC Clustering:</a:t>
            </a:r>
            <a:endParaRPr b="1" sz="1100">
              <a:solidFill>
                <a:srgbClr val="0066CC"/>
              </a:solidFill>
            </a:endParaRPr>
          </a:p>
        </p:txBody>
      </p:sp>
      <p:pic>
        <p:nvPicPr>
          <p:cNvPr id="129" name="Google Shape;1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3400"/>
            <a:ext cx="8839200" cy="36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4836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/>
        </p:nvSpPr>
        <p:spPr>
          <a:xfrm>
            <a:off x="0" y="1245850"/>
            <a:ext cx="91440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Ablation Study: ViT Feature Extractors</a:t>
            </a:r>
            <a:endParaRPr b="1" sz="1700">
              <a:solidFill>
                <a:srgbClr val="0066CC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Key finding:</a:t>
            </a:r>
            <a:r>
              <a:rPr lang="en" sz="1100">
                <a:solidFill>
                  <a:schemeClr val="dk1"/>
                </a:solidFill>
              </a:rPr>
              <a:t> Dimension reduction improves ALL feature extractors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Best performer:</a:t>
            </a:r>
            <a:r>
              <a:rPr lang="en" sz="1100">
                <a:solidFill>
                  <a:schemeClr val="dk1"/>
                </a:solidFill>
              </a:rPr>
              <a:t> DINOv2-giant with 1536D → 3D reduction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Memory efficiency:</a:t>
            </a:r>
            <a:r>
              <a:rPr lang="en" sz="1100">
                <a:solidFill>
                  <a:schemeClr val="dk1"/>
                </a:solidFill>
              </a:rPr>
              <a:t> 512× reduction in dimensionality!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Accuracy gains:</a:t>
            </a:r>
            <a:r>
              <a:rPr lang="en" sz="1100">
                <a:solidFill>
                  <a:schemeClr val="dk1"/>
                </a:solidFill>
              </a:rPr>
              <a:t> Clustering improves despite dimension loss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Insight:</a:t>
            </a:r>
            <a:r>
              <a:rPr lang="en" sz="1100">
                <a:solidFill>
                  <a:schemeClr val="dk1"/>
                </a:solidFill>
              </a:rPr>
              <a:t> Pretrained ViT + manifold learning = winning combination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/>
        </p:nvSpPr>
        <p:spPr>
          <a:xfrm>
            <a:off x="0" y="1383025"/>
            <a:ext cx="91440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Cluster Count Estimation: Bayesian Optimization</a:t>
            </a:r>
            <a:endParaRPr b="1" sz="1700">
              <a:solidFill>
                <a:srgbClr val="0066CC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Challenge:</a:t>
            </a:r>
            <a:r>
              <a:rPr lang="en" sz="1100">
                <a:solidFill>
                  <a:schemeClr val="dk1"/>
                </a:solidFill>
              </a:rPr>
              <a:t> Unknown number of clusters in open-world scenarios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Solution:</a:t>
            </a:r>
            <a:r>
              <a:rPr lang="en" sz="1100">
                <a:solidFill>
                  <a:schemeClr val="dk1"/>
                </a:solidFill>
              </a:rPr>
              <a:t> Maximize Silhouette Score using Bayesian Optimization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Efficiency:</a:t>
            </a:r>
            <a:r>
              <a:rPr lang="en" sz="1100">
                <a:solidFill>
                  <a:schemeClr val="dk1"/>
                </a:solidFill>
              </a:rPr>
              <a:t> Intelligent search avoids brute-force enumeration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Accuracy:</a:t>
            </a:r>
            <a:r>
              <a:rPr lang="en" sz="1100">
                <a:solidFill>
                  <a:schemeClr val="dk1"/>
                </a:solidFill>
              </a:rPr>
              <a:t> Pseudo-labels exceed 99% on CIFAR-10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Practical:</a:t>
            </a:r>
            <a:r>
              <a:rPr lang="en" sz="1100">
                <a:solidFill>
                  <a:schemeClr val="dk1"/>
                </a:solidFill>
              </a:rPr>
              <a:t> Works for datasets with varying cluster counts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88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6127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0900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/>
        </p:nvSpPr>
        <p:spPr>
          <a:xfrm>
            <a:off x="0" y="1394450"/>
            <a:ext cx="73359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Implementation Details</a:t>
            </a:r>
            <a:endParaRPr b="1" sz="1700">
              <a:solidFill>
                <a:srgbClr val="0066CC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Feature extractor:</a:t>
            </a:r>
            <a:r>
              <a:rPr lang="en" sz="1100">
                <a:solidFill>
                  <a:schemeClr val="dk1"/>
                </a:solidFill>
              </a:rPr>
              <a:t> DINOv2-giant (1536 dimensions)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Normalization:</a:t>
            </a:r>
            <a:r>
              <a:rPr lang="en" sz="1100">
                <a:solidFill>
                  <a:schemeClr val="dk1"/>
                </a:solidFill>
              </a:rPr>
              <a:t> L2 normalization ensures unit vectors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Dimension reduction:</a:t>
            </a:r>
            <a:r>
              <a:rPr lang="en" sz="1100">
                <a:solidFill>
                  <a:schemeClr val="dk1"/>
                </a:solidFill>
              </a:rPr>
              <a:t> UMAP with 3 output dimensions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Clustering:</a:t>
            </a:r>
            <a:r>
              <a:rPr lang="en" sz="1100">
                <a:solidFill>
                  <a:schemeClr val="dk1"/>
                </a:solidFill>
              </a:rPr>
              <a:t> K-means or FasterMSC on reduced space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Optimization:</a:t>
            </a:r>
            <a:r>
              <a:rPr lang="en" sz="1100">
                <a:solidFill>
                  <a:schemeClr val="dk1"/>
                </a:solidFill>
              </a:rPr>
              <a:t> Bayesian optimization for automatic k selection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86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/>
          <p:nvPr/>
        </p:nvSpPr>
        <p:spPr>
          <a:xfrm>
            <a:off x="0" y="1245875"/>
            <a:ext cx="82962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Key Contributions</a:t>
            </a:r>
            <a:endParaRPr b="1" sz="1700">
              <a:solidFill>
                <a:srgbClr val="0066CC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Novel approach:</a:t>
            </a:r>
            <a:r>
              <a:rPr lang="en" sz="1100">
                <a:solidFill>
                  <a:schemeClr val="dk1"/>
                </a:solidFill>
              </a:rPr>
              <a:t> First to combine ViT + manifold learning + clustering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Theoretical insight:</a:t>
            </a:r>
            <a:r>
              <a:rPr lang="en" sz="1100">
                <a:solidFill>
                  <a:schemeClr val="dk1"/>
                </a:solidFill>
              </a:rPr>
              <a:t> Addressing curse of dimensionality improves clustering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Practical achievement:</a:t>
            </a:r>
            <a:r>
              <a:rPr lang="en" sz="1100">
                <a:solidFill>
                  <a:schemeClr val="dk1"/>
                </a:solidFill>
              </a:rPr>
              <a:t> Beats semi-supervised methods using only unlabeled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Scalable:</a:t>
            </a:r>
            <a:r>
              <a:rPr lang="en" sz="1100">
                <a:solidFill>
                  <a:schemeClr val="dk1"/>
                </a:solidFill>
              </a:rPr>
              <a:t> Works on datasets from CIFAR-10 to Tiny ImageNet (200 classes)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Automatic:</a:t>
            </a:r>
            <a:r>
              <a:rPr lang="en" sz="1100">
                <a:solidFill>
                  <a:schemeClr val="dk1"/>
                </a:solidFill>
              </a:rPr>
              <a:t> No need to specify cluster count beforehand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/>
        </p:nvSpPr>
        <p:spPr>
          <a:xfrm>
            <a:off x="57150" y="1555650"/>
            <a:ext cx="91440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Real-World Impact &amp; Applications</a:t>
            </a:r>
            <a:endParaRPr b="1" sz="1700">
              <a:solidFill>
                <a:srgbClr val="0066CC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Medical imaging:</a:t>
            </a:r>
            <a:r>
              <a:rPr lang="en" sz="1100">
                <a:solidFill>
                  <a:schemeClr val="dk1"/>
                </a:solidFill>
              </a:rPr>
              <a:t> Discover novel disease patterns without manual labeling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Foundation models:</a:t>
            </a:r>
            <a:r>
              <a:rPr lang="en" sz="1100">
                <a:solidFill>
                  <a:schemeClr val="dk1"/>
                </a:solidFill>
              </a:rPr>
              <a:t> Unlock self-supervised learning on unlabeled datasets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Content discovery:</a:t>
            </a:r>
            <a:r>
              <a:rPr lang="en" sz="1100">
                <a:solidFill>
                  <a:schemeClr val="dk1"/>
                </a:solidFill>
              </a:rPr>
              <a:t> Automatically categorize web images or documents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Anomaly detection:</a:t>
            </a:r>
            <a:r>
              <a:rPr lang="en" sz="1100">
                <a:solidFill>
                  <a:schemeClr val="dk1"/>
                </a:solidFill>
              </a:rPr>
              <a:t> Identify rare or novel events in sensor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Scientific discovery:</a:t>
            </a:r>
            <a:r>
              <a:rPr lang="en" sz="1100">
                <a:solidFill>
                  <a:schemeClr val="dk1"/>
                </a:solidFill>
              </a:rPr>
              <a:t> Explore new phenomena in experimental data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/>
        </p:nvSpPr>
        <p:spPr>
          <a:xfrm>
            <a:off x="0" y="1555650"/>
            <a:ext cx="80448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66CC"/>
                </a:solidFill>
              </a:rPr>
              <a:t>Future Research Directions</a:t>
            </a:r>
            <a:endParaRPr b="1" sz="1700">
              <a:solidFill>
                <a:srgbClr val="0066CC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Hierarchical clustering:</a:t>
            </a:r>
            <a:r>
              <a:rPr lang="en" sz="1100">
                <a:solidFill>
                  <a:schemeClr val="dk1"/>
                </a:solidFill>
              </a:rPr>
              <a:t> Discover cluster hierarchies automatically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Multi-modal learning:</a:t>
            </a:r>
            <a:r>
              <a:rPr lang="en" sz="1100">
                <a:solidFill>
                  <a:schemeClr val="dk1"/>
                </a:solidFill>
              </a:rPr>
              <a:t> Extend to text, audio, and video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Continual learning:</a:t>
            </a:r>
            <a:r>
              <a:rPr lang="en" sz="1100">
                <a:solidFill>
                  <a:schemeClr val="dk1"/>
                </a:solidFill>
              </a:rPr>
              <a:t> Handle streaming data with new clusters arriving over time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Interpretability:</a:t>
            </a:r>
            <a:r>
              <a:rPr lang="en" sz="1100">
                <a:solidFill>
                  <a:schemeClr val="dk1"/>
                </a:solidFill>
              </a:rPr>
              <a:t> Understand what makes clusters distinct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0066CC"/>
                </a:solidFill>
              </a:rPr>
              <a:t>Hardware efficiency:</a:t>
            </a:r>
            <a:r>
              <a:rPr lang="en" sz="1100">
                <a:solidFill>
                  <a:schemeClr val="dk1"/>
                </a:solidFill>
              </a:rPr>
              <a:t> Deploy on edge devices and mobile platforms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/>
          <p:nvPr/>
        </p:nvSpPr>
        <p:spPr>
          <a:xfrm>
            <a:off x="0" y="1555650"/>
            <a:ext cx="91440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Key Takeaways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✓ Fully unsupervised beats semi-supervised methods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✓ Vision Transformers + manifold learning = powerful formula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✓ Works at scale across diverse image datasets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✓ Automatically handles unknown cluster counts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✓ Opens new possibilities for foundation model research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